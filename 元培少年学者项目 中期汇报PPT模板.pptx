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W4Pc1I0v3ypt4mJfIgI2mCYdm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8" y="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C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C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2287CBB2-979A-47B5-272F-72D61DE9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>
            <a:extLst>
              <a:ext uri="{FF2B5EF4-FFF2-40B4-BE49-F238E27FC236}">
                <a16:creationId xmlns:a16="http://schemas.microsoft.com/office/drawing/2014/main" id="{0BED9885-B115-EC1B-CAD8-4F15D4968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F30EE9EA-F54B-A7C6-1ED0-0AA1F1EA1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2418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C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r="69069"/>
          <a:stretch/>
        </p:blipFill>
        <p:spPr>
          <a:xfrm>
            <a:off x="0" y="0"/>
            <a:ext cx="28281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946997" y="674344"/>
            <a:ext cx="9342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CN" sz="32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中期汇报模板</a:t>
            </a:r>
            <a:endParaRPr sz="3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215475" y="503350"/>
            <a:ext cx="5424900" cy="38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635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CN" sz="18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使用说明</a:t>
            </a:r>
            <a:endParaRPr sz="1800" b="1" i="0" u="none" strike="noStrike" cap="non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sz="12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PPT均采用英文制作，每位同学10分钟，中/英文口头+PPT汇报7分钟，中英文点评及提问3分钟左右</a:t>
            </a:r>
            <a:endParaRPr sz="1200" b="1" i="0" u="none" strike="noStrike" cap="non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sz="12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建议字体：Times New Roman；字号不小于12号字；行间距：1.15。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sz="12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建议中期汇报包含以下内容：</a:t>
            </a:r>
            <a:endParaRPr sz="1200" b="1" i="0" u="none" strike="noStrike" cap="non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Times New Roman"/>
              <a:buChar char="●"/>
            </a:pPr>
            <a:r>
              <a:rPr lang="zh-CN" sz="12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标题页/Title（1页）</a:t>
            </a:r>
            <a:endParaRPr sz="12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Times New Roman"/>
              <a:buChar char="●"/>
            </a:pPr>
            <a:r>
              <a:rPr lang="zh-CN" sz="12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研究问题/Research Question</a:t>
            </a:r>
            <a:r>
              <a:rPr lang="zh-CN" sz="12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（1页）</a:t>
            </a:r>
            <a:endParaRPr sz="1200" b="1" i="0" u="none" strike="noStrike" cap="non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Times New Roman"/>
              <a:buChar char="●"/>
            </a:pPr>
            <a:r>
              <a:rPr lang="zh-CN" sz="12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研究背景/Background（1页）</a:t>
            </a:r>
            <a:endParaRPr sz="1200" b="1" i="0" u="none" strike="noStrike" cap="non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Times New Roman"/>
              <a:buChar char="●"/>
            </a:pPr>
            <a:r>
              <a:rPr lang="zh-CN" sz="12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文献综述/Literature Review（1-2页）</a:t>
            </a:r>
            <a:endParaRPr sz="1200" b="1" i="0" u="none" strike="noStrike" cap="non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Times New Roman"/>
              <a:buChar char="●"/>
            </a:pPr>
            <a:r>
              <a:rPr lang="zh-CN" sz="12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研究设计或方法/Research Design/Method（1-2页）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Times New Roman"/>
              <a:buChar char="●"/>
            </a:pPr>
            <a:r>
              <a:rPr lang="zh-CN" sz="12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研究进度计划与下一步的困难/Research Plan and Challenges（1页）</a:t>
            </a:r>
            <a:endParaRPr sz="1200" b="1" i="0" u="none" strike="noStrike" cap="non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Times New Roman"/>
              <a:buChar char="●"/>
            </a:pPr>
            <a:r>
              <a:rPr lang="zh-CN" sz="12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初步结果/Preliminary Results</a:t>
            </a:r>
            <a:r>
              <a:rPr lang="zh-CN" sz="12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（1页）</a:t>
            </a:r>
            <a:endParaRPr sz="1200" b="1" i="0" u="none" strike="noStrike" cap="non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Times New Roman"/>
              <a:buChar char="●"/>
            </a:pPr>
            <a:r>
              <a:rPr lang="zh-CN" sz="1200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参考文献/ References（1页）</a:t>
            </a:r>
            <a:endParaRPr sz="1400" b="1" i="0" u="none" strike="noStrike" cap="non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3423600" y="4313329"/>
            <a:ext cx="29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sz="1400" b="0" i="0" u="none" strike="noStrike" cap="none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*在提交中期汇报PPT前请删除此页</a:t>
            </a:r>
            <a:endParaRPr sz="1400" b="0" i="0" u="none" strike="noStrike" cap="non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24547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>
            <a:spLocks noGrp="1"/>
          </p:cNvSpPr>
          <p:nvPr>
            <p:ph type="ctrTitle"/>
          </p:nvPr>
        </p:nvSpPr>
        <p:spPr>
          <a:xfrm>
            <a:off x="464227" y="252407"/>
            <a:ext cx="8215546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lvl="0">
              <a:lnSpc>
                <a:spcPct val="115000"/>
              </a:lnSpc>
              <a:buClr>
                <a:schemeClr val="lt1"/>
              </a:buClr>
              <a:buSzPts val="4500"/>
            </a:pPr>
            <a:r>
              <a:rPr lang="en-US" altLang="zh-CN" sz="2800" dirty="0">
                <a:solidFill>
                  <a:schemeClr val="bg1"/>
                </a:solidFill>
                <a:latin typeface="Times  New Roman"/>
              </a:rPr>
              <a:t>Can Schools Change Destiny? The Compensatory Effect of School Social Capital on Educational Expectations Across Family Backgrounds</a:t>
            </a:r>
            <a:endParaRPr lang="en-US" sz="2800" dirty="0">
              <a:solidFill>
                <a:schemeClr val="bg1"/>
              </a:solidFill>
              <a:latin typeface="Times  New Roman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6" name="Google Shape;66;p2"/>
          <p:cNvSpPr txBox="1">
            <a:spLocks noGrp="1"/>
          </p:cNvSpPr>
          <p:nvPr>
            <p:ph type="subTitle" idx="1"/>
          </p:nvPr>
        </p:nvSpPr>
        <p:spPr>
          <a:xfrm>
            <a:off x="1036732" y="3691413"/>
            <a:ext cx="75981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4285"/>
              <a:buNone/>
            </a:pPr>
            <a:r>
              <a:rPr lang="zh-CN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Name：</a:t>
            </a:r>
            <a:r>
              <a:rPr lang="en-US" altLang="zh-CN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JinHong</a:t>
            </a:r>
            <a:r>
              <a:rPr lang="zh-CN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CN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 </a:t>
            </a:r>
            <a:r>
              <a:rPr lang="zh-CN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Advisor：</a:t>
            </a:r>
            <a:r>
              <a:rPr lang="en-US" altLang="zh-CN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Yue Ma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>
            <a:spLocks noGrp="1"/>
          </p:cNvSpPr>
          <p:nvPr>
            <p:ph type="title"/>
          </p:nvPr>
        </p:nvSpPr>
        <p:spPr>
          <a:xfrm>
            <a:off x="550243" y="19283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966" y="412619"/>
            <a:ext cx="38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3929" y="192826"/>
            <a:ext cx="1016391" cy="20327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EA34EB-3D30-D6B1-C47B-0BE8DE783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3051" y="863591"/>
            <a:ext cx="866727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Research Question: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Can school social capital compensate for family disadvantage (SES &amp; Hukou)?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Hypotheses: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H1 (Main Effect):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Both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Teacher Bonding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and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Peer Bridging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positively predict educational expectations.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H2 (Compensatory Effect):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 New Roman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H2a: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Teacher Bonding benefits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Low-SES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students &gt; High-SES students.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H2b: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Peer Bridging benefits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Low-SES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students &gt; High-SES students.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H2c: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Teacher Bonding benefits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Rural Hukou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students &gt; Urban Hukou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H3 (Exploratory):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New Roman"/>
              </a:rPr>
              <a:t> Comparing the magnitude: Which compensatory effect is stronger? (Bonding vs. Bridging).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A76D71AF-4F43-6B4A-7394-5156DCB98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>
            <a:extLst>
              <a:ext uri="{FF2B5EF4-FFF2-40B4-BE49-F238E27FC236}">
                <a16:creationId xmlns:a16="http://schemas.microsoft.com/office/drawing/2014/main" id="{9A6C457F-30E9-6F8C-22EF-4F698C5FBD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243" y="19283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3">
            <a:extLst>
              <a:ext uri="{FF2B5EF4-FFF2-40B4-BE49-F238E27FC236}">
                <a16:creationId xmlns:a16="http://schemas.microsoft.com/office/drawing/2014/main" id="{165E0687-B66F-270C-768E-0BB16DE1CF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966" y="412619"/>
            <a:ext cx="38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>
            <a:extLst>
              <a:ext uri="{FF2B5EF4-FFF2-40B4-BE49-F238E27FC236}">
                <a16:creationId xmlns:a16="http://schemas.microsoft.com/office/drawing/2014/main" id="{0BF54A64-78B1-3946-D415-32054D0AFA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3929" y="192826"/>
            <a:ext cx="1016391" cy="20327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062B08B-63AA-93C4-E2B7-8607476224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48314" y="1010575"/>
            <a:ext cx="2826082" cy="3250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dirty="0">
                <a:latin typeface="Times  New Roman"/>
              </a:rPr>
              <a:t>Two paths to educational expectations:</a:t>
            </a:r>
          </a:p>
          <a:p>
            <a:r>
              <a:rPr lang="en-US" altLang="zh-CN" sz="1200" b="1" dirty="0">
                <a:latin typeface="Times  New Roman"/>
              </a:rPr>
              <a:t>Peer bonding</a:t>
            </a:r>
            <a:r>
              <a:rPr lang="en-US" altLang="zh-CN" sz="1200" dirty="0">
                <a:latin typeface="Times  New Roman"/>
              </a:rPr>
              <a:t> → "getting by" (emotional support)</a:t>
            </a:r>
          </a:p>
          <a:p>
            <a:r>
              <a:rPr lang="en-US" altLang="zh-CN" sz="1200" b="1" dirty="0">
                <a:latin typeface="Times  New Roman"/>
              </a:rPr>
              <a:t>Teacher bridging</a:t>
            </a:r>
            <a:r>
              <a:rPr lang="en-US" altLang="zh-CN" sz="1200" dirty="0">
                <a:latin typeface="Times  New Roman"/>
              </a:rPr>
              <a:t> → "getting ahead" (institutional resources)</a:t>
            </a:r>
          </a:p>
          <a:p>
            <a:r>
              <a:rPr lang="en-US" altLang="zh-CN" sz="1200" b="1" dirty="0">
                <a:latin typeface="Times  New Roman"/>
              </a:rPr>
              <a:t>Key question:</a:t>
            </a:r>
            <a:r>
              <a:rPr lang="en-US" altLang="zh-CN" sz="1200" dirty="0">
                <a:latin typeface="Times  New Roman"/>
              </a:rPr>
              <a:t> Does being a migrant change these effects?</a:t>
            </a:r>
          </a:p>
          <a:p>
            <a:r>
              <a:rPr lang="en-US" altLang="zh-CN" sz="1200" dirty="0">
                <a:latin typeface="Times  New Roman"/>
              </a:rPr>
              <a:t>Migrants may benefit </a:t>
            </a:r>
            <a:r>
              <a:rPr lang="en-US" altLang="zh-CN" sz="1200" b="1" dirty="0">
                <a:latin typeface="Times  New Roman"/>
              </a:rPr>
              <a:t>less</a:t>
            </a:r>
            <a:r>
              <a:rPr lang="en-US" altLang="zh-CN" sz="1200" dirty="0">
                <a:latin typeface="Times  New Roman"/>
              </a:rPr>
              <a:t> from peer ties (isolation in migrant cliques)</a:t>
            </a:r>
          </a:p>
          <a:p>
            <a:r>
              <a:rPr lang="en-US" altLang="zh-CN" sz="1200" dirty="0">
                <a:latin typeface="Times  New Roman"/>
              </a:rPr>
              <a:t>Migrants may benefit </a:t>
            </a:r>
            <a:r>
              <a:rPr lang="en-US" altLang="zh-CN" sz="1200" b="1" dirty="0">
                <a:latin typeface="Times  New Roman"/>
              </a:rPr>
              <a:t>more</a:t>
            </a:r>
            <a:r>
              <a:rPr lang="en-US" altLang="zh-CN" sz="1200" dirty="0">
                <a:latin typeface="Times  New Roman"/>
              </a:rPr>
              <a:t> from teacher ties (compensates for family disadvantage)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 New Roman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955BB4DE-AFB0-EC4F-AC33-B3B93CA372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8614" y="818364"/>
            <a:ext cx="1905786" cy="190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05949D7-BF31-DA1B-1E2D-F01594AA68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0769833-2A8F-3DD9-9B0F-A77BB06A99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F1D5042C-5279-0E49-E26F-9EA6316796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81E6E00-B2D6-A85D-D1CD-69A99C4AB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" y="1038461"/>
            <a:ext cx="5851543" cy="319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6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>
            <a:spLocks noGrp="1"/>
          </p:cNvSpPr>
          <p:nvPr>
            <p:ph type="title"/>
          </p:nvPr>
        </p:nvSpPr>
        <p:spPr>
          <a:xfrm>
            <a:off x="550243" y="19283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/>
          <p:cNvSpPr txBox="1">
            <a:spLocks noGrp="1"/>
          </p:cNvSpPr>
          <p:nvPr>
            <p:ph type="body" idx="1"/>
          </p:nvPr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zh-CN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  <a:endParaRPr dirty="0"/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与该核心问题相关的研究领域是什么？</a:t>
            </a:r>
            <a:endParaRPr dirty="0"/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为什么这项研究是重要的？</a:t>
            </a:r>
            <a:endParaRPr dirty="0"/>
          </a:p>
          <a:p>
            <a:pPr marL="914400" lvl="1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zh-CN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它对于你，或对你所处的社区/社会，或学术界，或整个世界的意义是什么？</a:t>
            </a:r>
            <a:endParaRPr dirty="0"/>
          </a:p>
          <a:p>
            <a:pPr marL="914400" lvl="1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zh-CN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普通读者为什么需要关注该研究的结果？</a:t>
            </a:r>
            <a:endParaRPr sz="1200" dirty="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81" name="Google Shape;8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966" y="412619"/>
            <a:ext cx="38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3929" y="192826"/>
            <a:ext cx="1016391" cy="20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50243" y="19283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zh-CN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  <a:endParaRPr sz="1200" dirty="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以往其他学者的研究有哪些？以往的研究中的局限性与未回答的问题有哪些？</a:t>
            </a:r>
            <a:endParaRPr sz="1200" dirty="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个人研究的独创性有哪些？</a:t>
            </a:r>
            <a:endParaRPr dirty="0"/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在此背景下，如何重新聚焦你的研究问题？</a:t>
            </a:r>
            <a:endParaRPr sz="1200" dirty="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966" y="412619"/>
            <a:ext cx="38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3929" y="192826"/>
            <a:ext cx="1016391" cy="20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550243" y="19283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Design/Method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6"/>
          <p:cNvSpPr txBox="1">
            <a:spLocks noGrp="1"/>
          </p:cNvSpPr>
          <p:nvPr>
            <p:ph type="body" idx="1"/>
          </p:nvPr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zh-CN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  <a:endParaRPr sz="120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你将采用什么措施来收集上述的样本信息或数据信息？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>
                <a:solidFill>
                  <a:srgbClr val="7F7F7F"/>
                </a:solidFill>
                <a:highlight>
                  <a:schemeClr val="lt1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你打算采用已有的研究方法还是新的研究方法？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你采用的分析手段会是什么？</a:t>
            </a:r>
            <a:endParaRPr sz="120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97" name="Google Shape;9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966" y="412619"/>
            <a:ext cx="38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3929" y="192826"/>
            <a:ext cx="1016391" cy="20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550243" y="19283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Plan and Challenges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zh-CN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  <a:endParaRPr sz="1200">
              <a:solidFill>
                <a:srgbClr val="7F7F7F"/>
              </a:solidFill>
              <a:highlight>
                <a:srgbClr val="FFFFFF"/>
              </a:highlight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>
                <a:solidFill>
                  <a:srgbClr val="7F7F7F"/>
                </a:solidFill>
                <a:highlight>
                  <a:schemeClr val="lt1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从初步研究到最终编辑，你的每个步骤及其完成的日期有哪些？</a:t>
            </a:r>
            <a:endParaRPr sz="1200">
              <a:solidFill>
                <a:srgbClr val="7F7F7F"/>
              </a:solidFill>
              <a:highlight>
                <a:schemeClr val="lt1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>
                <a:solidFill>
                  <a:srgbClr val="7F7F7F"/>
                </a:solidFill>
                <a:highlight>
                  <a:schemeClr val="lt1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到目前为止，你所取得的进展有哪些？</a:t>
            </a:r>
            <a:endParaRPr sz="1200">
              <a:solidFill>
                <a:srgbClr val="7F7F7F"/>
              </a:solidFill>
              <a:highlight>
                <a:schemeClr val="lt1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>
                <a:solidFill>
                  <a:srgbClr val="7F7F7F"/>
                </a:solidFill>
                <a:highlight>
                  <a:schemeClr val="lt1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基于你的研究计划，你预计会有哪些潜在的挑战？你将如何克服？</a:t>
            </a:r>
            <a:endParaRPr sz="1200">
              <a:solidFill>
                <a:srgbClr val="7F7F7F"/>
              </a:solidFill>
              <a:highlight>
                <a:srgbClr val="FFFFFF"/>
              </a:highlight>
            </a:endParaRPr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966" y="412619"/>
            <a:ext cx="38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3929" y="192826"/>
            <a:ext cx="1016391" cy="20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550243" y="19283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Preliminary Results</a:t>
            </a:r>
            <a:endParaRPr b="1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1"/>
          </p:nvPr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7F7F7F"/>
                </a:solidFill>
                <a:highlight>
                  <a:schemeClr val="lt1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  <a:endParaRPr sz="1200">
              <a:solidFill>
                <a:srgbClr val="7F7F7F"/>
              </a:solidFill>
              <a:highlight>
                <a:schemeClr val="lt1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>
                <a:solidFill>
                  <a:srgbClr val="7F7F7F"/>
                </a:solidFill>
                <a:highlight>
                  <a:schemeClr val="lt1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初步研究的结果/图表</a:t>
            </a:r>
            <a:endParaRPr sz="1200">
              <a:solidFill>
                <a:srgbClr val="7F7F7F"/>
              </a:solidFill>
              <a:highlight>
                <a:schemeClr val="lt1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>
                <a:solidFill>
                  <a:srgbClr val="7F7F7F"/>
                </a:solidFill>
                <a:highlight>
                  <a:schemeClr val="lt1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对初步结果的解读和讨论</a:t>
            </a:r>
            <a:endParaRPr sz="1200">
              <a:solidFill>
                <a:srgbClr val="7F7F7F"/>
              </a:solidFill>
              <a:highlight>
                <a:schemeClr val="lt1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113" name="Google Shape;11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966" y="412619"/>
            <a:ext cx="38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3929" y="192826"/>
            <a:ext cx="1016391" cy="20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>
            <a:spLocks noGrp="1"/>
          </p:cNvSpPr>
          <p:nvPr>
            <p:ph type="title"/>
          </p:nvPr>
        </p:nvSpPr>
        <p:spPr>
          <a:xfrm>
            <a:off x="550243" y="19283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9"/>
          <p:cNvSpPr txBox="1">
            <a:spLocks noGrp="1"/>
          </p:cNvSpPr>
          <p:nvPr>
            <p:ph type="body" idx="1"/>
          </p:nvPr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CN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  <a:endParaRPr sz="120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你是否罗列了你的研究中所涉及的文献和书目？请按字母顺序罗列。</a:t>
            </a:r>
            <a:endParaRPr sz="120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zh-CN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你是否涵盖了至少1-2篇该研究领域重要的文献或书目？</a:t>
            </a:r>
            <a:endParaRPr sz="120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17145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120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966" y="412619"/>
            <a:ext cx="38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3929" y="192826"/>
            <a:ext cx="1016391" cy="20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24547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0"/>
          <p:cNvSpPr txBox="1">
            <a:spLocks noGrp="1"/>
          </p:cNvSpPr>
          <p:nvPr>
            <p:ph type="ctrTitle"/>
          </p:nvPr>
        </p:nvSpPr>
        <p:spPr>
          <a:xfrm>
            <a:off x="772988" y="1179750"/>
            <a:ext cx="75981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6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感谢老师批评与指导</a:t>
            </a:r>
            <a:endParaRPr sz="6000" b="1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>
                <a:solidFill>
                  <a:srgbClr val="FFFFFF"/>
                </a:solidFill>
              </a:rPr>
              <a:t>Thank you for your constructive feedback!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0" name="Google Shape;130;p10"/>
          <p:cNvSpPr txBox="1">
            <a:spLocks noGrp="1"/>
          </p:cNvSpPr>
          <p:nvPr>
            <p:ph type="subTitle" idx="1"/>
          </p:nvPr>
        </p:nvSpPr>
        <p:spPr>
          <a:xfrm>
            <a:off x="1315026" y="3691413"/>
            <a:ext cx="6920889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4285"/>
              <a:buNone/>
            </a:pPr>
            <a:r>
              <a:rPr 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Name：______ Research Advisor：______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655</Words>
  <Application>Microsoft Office PowerPoint</Application>
  <PresentationFormat>全屏显示(16:9)</PresentationFormat>
  <Paragraphs>67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Times  New Roman</vt:lpstr>
      <vt:lpstr>Microsoft YaHei</vt:lpstr>
      <vt:lpstr>Microsoft YaHei</vt:lpstr>
      <vt:lpstr>Arial</vt:lpstr>
      <vt:lpstr>Times New Roman</vt:lpstr>
      <vt:lpstr>Simple Light</vt:lpstr>
      <vt:lpstr>PowerPoint 演示文稿</vt:lpstr>
      <vt:lpstr>Can Schools Change Destiny? The Compensatory Effect of School Social Capital on Educational Expectations Across Family Backgrounds</vt:lpstr>
      <vt:lpstr>Research Question</vt:lpstr>
      <vt:lpstr>Research Question</vt:lpstr>
      <vt:lpstr>Background</vt:lpstr>
      <vt:lpstr>Literature Review</vt:lpstr>
      <vt:lpstr>Research Design/Method</vt:lpstr>
      <vt:lpstr>Research Plan and Challenges</vt:lpstr>
      <vt:lpstr>Preliminary Results</vt:lpstr>
      <vt:lpstr>References</vt:lpstr>
      <vt:lpstr>感谢老师批评与指导 Thank you for your constructive feedback!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dx lin</cp:lastModifiedBy>
  <cp:revision>2</cp:revision>
  <dcterms:modified xsi:type="dcterms:W3CDTF">2026-01-02T03:08:58Z</dcterms:modified>
</cp:coreProperties>
</file>